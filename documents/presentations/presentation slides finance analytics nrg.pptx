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"/>
      <p:bold r:id="rId17"/>
      <p:boldItalic r:id="rId18"/>
    </p:embeddedFont>
    <p:embeddedFont>
      <p:font typeface="Inter ExtraBold"/>
      <p:bold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11" Type="http://schemas.openxmlformats.org/officeDocument/2006/relationships/slide" Target="slides/slide6.xml"/><Relationship Id="rId22" Type="http://schemas.openxmlformats.org/officeDocument/2006/relationships/font" Target="fonts/InterMedium-bold.fntdata"/><Relationship Id="rId10" Type="http://schemas.openxmlformats.org/officeDocument/2006/relationships/slide" Target="slides/slide5.xml"/><Relationship Id="rId21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24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31be66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831be66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31be66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831be66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31be668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831be66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31be66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831be66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31be6686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831be6686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831be6686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831be6686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31be6686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831be6686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31be6686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831be6686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31be6686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831be6686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831be6686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831be6686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9144000" cy="1486050"/>
            <a:chOff x="0" y="0"/>
            <a:chExt cx="9144000" cy="148605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952500" y="1428750"/>
              <a:ext cx="1143000" cy="5730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143125" y="1428750"/>
              <a:ext cx="1143000" cy="573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952500" y="1809750"/>
            <a:ext cx="7239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Nordic Retail Group</a:t>
            </a:r>
            <a:endParaRPr b="1" sz="18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1500"/>
              </a:spcAft>
              <a:buNone/>
            </a:pPr>
            <a:r>
              <a:rPr b="0" lang="en" sz="5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Financial Report</a:t>
            </a:r>
            <a:endParaRPr b="0" sz="5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76250" y="476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Background &amp; Objective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476250" y="1333500"/>
            <a:ext cx="3905400" cy="3238500"/>
            <a:chOff x="0" y="0"/>
            <a:chExt cx="3905400" cy="32385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0" y="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228600" y="228600"/>
              <a:ext cx="34482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Background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Fragmented and manual financial reporting limits visibility.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NRG’s financial data is fragmented and manually reconciled, causing inconsistencies, errors, and reporting delays.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Limited cost visibility makes it difficult to monitor profitability, COGS, operational expenses, and budget performance.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4762500" y="1333500"/>
            <a:ext cx="3905400" cy="3238500"/>
            <a:chOff x="0" y="0"/>
            <a:chExt cx="3905400" cy="3238500"/>
          </a:xfrm>
        </p:grpSpPr>
        <p:sp>
          <p:nvSpPr>
            <p:cNvPr id="69" name="Google Shape;69;p14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0" y="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228600" y="228600"/>
              <a:ext cx="34482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Objective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structured financial dataset and centralized analytics dashboard.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Build a centralized financial dataset and automated reporting system for faster, more accurate decision-making.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Improve profitability and cost control through P&amp;L, balance sheet, and Budget vs. Actual analysis.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Profitability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a. </a:t>
            </a:r>
            <a:r>
              <a:rPr b="1" lang="en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Gross Profit</a:t>
            </a:r>
            <a:endParaRPr b="1" sz="18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76250" y="1238250"/>
            <a:ext cx="3905400" cy="1000200"/>
            <a:chOff x="0" y="0"/>
            <a:chExt cx="3905400" cy="10002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Peak &amp; Lowest Points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Gross profit peaked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January at 1.774M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reached its lowest level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April at 1.482M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a decline of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16.5%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476250" y="2381250"/>
            <a:ext cx="3905400" cy="1000200"/>
            <a:chOff x="0" y="0"/>
            <a:chExt cx="3905400" cy="10002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Strongest Recovery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Occurred from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April to May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increasing by </a:t>
              </a:r>
              <a:r>
                <a:rPr b="1" lang="en" sz="10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167K (11.3%)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followed by strong performance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July–August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76250" y="3524250"/>
            <a:ext cx="3905400" cy="1000200"/>
            <a:chOff x="0" y="0"/>
            <a:chExt cx="3905400" cy="10002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Year-End Performance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Recovered to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1.576M in November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but declined to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1.531M in December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closing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13.7% below January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9" name="Google Shape;89;p15"/>
          <p:cNvSpPr/>
          <p:nvPr/>
        </p:nvSpPr>
        <p:spPr>
          <a:xfrm>
            <a:off x="4667250" y="1238250"/>
            <a:ext cx="4000500" cy="32862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762500" y="1343025"/>
            <a:ext cx="3810000" cy="30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6045375" y="3546725"/>
            <a:ext cx="364500" cy="303900"/>
          </a:xfrm>
          <a:prstGeom prst="ellipse">
            <a:avLst/>
          </a:prstGeom>
          <a:noFill/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5210475" y="1739675"/>
            <a:ext cx="364500" cy="303900"/>
          </a:xfrm>
          <a:prstGeom prst="ellipse">
            <a:avLst/>
          </a:prstGeom>
          <a:noFill/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b. Net Profit</a:t>
            </a:r>
            <a:endParaRPr b="1" sz="1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476250" y="1238250"/>
            <a:ext cx="3905400" cy="1000200"/>
            <a:chOff x="0" y="0"/>
            <a:chExt cx="3905400" cy="1000200"/>
          </a:xfrm>
        </p:grpSpPr>
        <p:sp>
          <p:nvSpPr>
            <p:cNvPr id="99" name="Google Shape;99;p16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Peak &amp; Lowest Points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Net profit peaked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July at 4.62M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reached its lowest level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September at 3.97M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showing significant monthly volatility.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476250" y="2381250"/>
            <a:ext cx="3905400" cy="1000200"/>
            <a:chOff x="0" y="0"/>
            <a:chExt cx="3905400" cy="10002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Strongest Recovery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Occurred from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June to July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increasing by </a:t>
              </a:r>
              <a:r>
                <a:rPr b="1" lang="en" sz="10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0.60M (14.9%)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followed by a decline of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14.1%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from July to September.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476250" y="3524250"/>
            <a:ext cx="3905400" cy="1000200"/>
            <a:chOff x="0" y="0"/>
            <a:chExt cx="3905400" cy="10002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Year-End Performance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Net profit closed at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4.37M in December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which is approximately </a:t>
              </a:r>
              <a:r>
                <a:rPr b="1" lang="en" sz="10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1.9% higher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than January’s 4.29M.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4667250" y="1238250"/>
            <a:ext cx="4000500" cy="3286200"/>
            <a:chOff x="0" y="0"/>
            <a:chExt cx="4000500" cy="32862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4000500" cy="32862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" name="Google Shape;112;p16"/>
            <p:cNvPicPr preferRelativeResize="0"/>
            <p:nvPr/>
          </p:nvPicPr>
          <p:blipFill rotWithShape="1">
            <a:blip r:embed="rId3">
              <a:alphaModFix/>
            </a:blip>
            <a:srcRect b="0" l="515" r="524" t="0"/>
            <a:stretch/>
          </p:blipFill>
          <p:spPr>
            <a:xfrm>
              <a:off x="95250" y="104775"/>
              <a:ext cx="3810000" cy="306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6"/>
            <p:cNvSpPr/>
            <p:nvPr/>
          </p:nvSpPr>
          <p:spPr>
            <a:xfrm>
              <a:off x="2114550" y="523875"/>
              <a:ext cx="363900" cy="303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2647950" y="2362200"/>
              <a:ext cx="363900" cy="303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Profitability</a:t>
            </a:r>
            <a:endParaRPr b="1" sz="217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95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c. Revenue</a:t>
            </a:r>
            <a:endParaRPr b="1" sz="139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476250" y="1238250"/>
            <a:ext cx="3905400" cy="1000200"/>
            <a:chOff x="0" y="0"/>
            <a:chExt cx="3905400" cy="1000200"/>
          </a:xfrm>
        </p:grpSpPr>
        <p:sp>
          <p:nvSpPr>
            <p:cNvPr id="121" name="Google Shape;121;p17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Peak &amp; Lowest Points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Revenue peaked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March at 1.027M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reached its lowest level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December at 800K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476250" y="2381250"/>
            <a:ext cx="3905400" cy="1000200"/>
            <a:chOff x="0" y="0"/>
            <a:chExt cx="3905400" cy="10002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Strongest Recovery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Occurred from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June to July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increasing by </a:t>
              </a:r>
              <a:r>
                <a:rPr b="1" lang="en" sz="10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150K (18.0%)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after falling to 832K in June.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476250" y="3524250"/>
            <a:ext cx="3905400" cy="1000200"/>
            <a:chOff x="0" y="0"/>
            <a:chExt cx="3905400" cy="10002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Year-End Performance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Revenue declined from 996K in January to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800K in December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representing an overall decrease of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19.7%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2" name="Google Shape;132;p17"/>
          <p:cNvSpPr/>
          <p:nvPr/>
        </p:nvSpPr>
        <p:spPr>
          <a:xfrm>
            <a:off x="4667250" y="1238250"/>
            <a:ext cx="4000500" cy="32862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749" r="749" t="0"/>
          <a:stretch/>
        </p:blipFill>
        <p:spPr>
          <a:xfrm>
            <a:off x="4762500" y="1343025"/>
            <a:ext cx="3810000" cy="30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6286500" y="1409700"/>
            <a:ext cx="285900" cy="285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8239125" y="3000375"/>
            <a:ext cx="285900" cy="285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Operation</a:t>
            </a:r>
            <a:endParaRPr b="1" sz="139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1" name="Google Shape;141;p18"/>
          <p:cNvGrpSpPr/>
          <p:nvPr/>
        </p:nvGrpSpPr>
        <p:grpSpPr>
          <a:xfrm>
            <a:off x="476250" y="1238250"/>
            <a:ext cx="3905400" cy="1000200"/>
            <a:chOff x="0" y="0"/>
            <a:chExt cx="3905400" cy="1000200"/>
          </a:xfrm>
        </p:grpSpPr>
        <p:sp>
          <p:nvSpPr>
            <p:cNvPr id="142" name="Google Shape;142;p18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Revenue Trends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Revenue peaked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March at 1.03M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fell to its lowest level of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0.80M in December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a decline of approximately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22.3%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476250" y="2381250"/>
            <a:ext cx="3905400" cy="1000200"/>
            <a:chOff x="0" y="0"/>
            <a:chExt cx="3905400" cy="1000200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Operating Expenses Peak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Operating expenses reached their highest magnitude in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July at 2.38M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despite revenue remaining relatively strong at </a:t>
              </a:r>
              <a:r>
                <a:rPr b="1" lang="en" sz="10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0.98M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476250" y="3524250"/>
            <a:ext cx="3905400" cy="1000200"/>
            <a:chOff x="0" y="0"/>
            <a:chExt cx="3905400" cy="1000200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Cost Pressure &amp; Deficit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Operating expenses exceeded revenue in every month;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December recorded the largest cost pressure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with expenses approximately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2.66 times revenue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3" name="Google Shape;15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7395" y="1328488"/>
            <a:ext cx="4405450" cy="24865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Operation</a:t>
            </a:r>
            <a:endParaRPr b="1" sz="217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476250" y="1238250"/>
            <a:ext cx="3905400" cy="1000200"/>
            <a:chOff x="0" y="0"/>
            <a:chExt cx="3905400" cy="1000200"/>
          </a:xfrm>
        </p:grpSpPr>
        <p:sp>
          <p:nvSpPr>
            <p:cNvPr id="160" name="Google Shape;160;p19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Operating Profit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Physical stores generated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31M in operating profit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approximately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2.6 times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E-commerce’s 12M, contributing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72% of total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3" name="Google Shape;163;p19"/>
          <p:cNvGrpSpPr/>
          <p:nvPr/>
        </p:nvGrpSpPr>
        <p:grpSpPr>
          <a:xfrm>
            <a:off x="476250" y="2381250"/>
            <a:ext cx="3905400" cy="1000200"/>
            <a:chOff x="0" y="0"/>
            <a:chExt cx="3905400" cy="1000200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Net Profit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Store net profit reached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37M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compared with 14M from E-commerce, representing approximately </a:t>
              </a:r>
              <a:r>
                <a:rPr b="1" lang="en" sz="10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73% of total net profit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476250" y="3524250"/>
            <a:ext cx="3905400" cy="1000200"/>
            <a:chOff x="0" y="0"/>
            <a:chExt cx="3905400" cy="1000200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Strategic Outlook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Both channels are profitable, but E-commerce requires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revenue growth and cost-efficiency improvements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to narrow the gap.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425" y="1202550"/>
            <a:ext cx="3204300" cy="33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Scenario Analytics</a:t>
            </a:r>
            <a:endParaRPr b="1" sz="2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476250" y="1238250"/>
            <a:ext cx="3905400" cy="1000200"/>
            <a:chOff x="0" y="0"/>
            <a:chExt cx="3905400" cy="1000200"/>
          </a:xfrm>
        </p:grpSpPr>
        <p:sp>
          <p:nvSpPr>
            <p:cNvPr id="178" name="Google Shape;178;p20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Favorable Results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NRG Online Norway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recorded the most favorable actual result at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−3.90M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followed by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NRG Bergen at −4.05M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476250" y="2381250"/>
            <a:ext cx="3905400" cy="1000200"/>
            <a:chOff x="0" y="0"/>
            <a:chExt cx="3905400" cy="100020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Weakest Performance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NRG Trondheim and NRG Stockholm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recorded the weakest actual results at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−4.45M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while Stockholm had the greatest downside risk at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−5.19M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476250" y="3524250"/>
            <a:ext cx="3905400" cy="1000200"/>
            <a:chOff x="0" y="0"/>
            <a:chExt cx="3905400" cy="1000200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Cost-Control Priority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Cost-control initiatives should prioritize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Stockholm, Trondheim, and Oslo City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as these stores recorded the highest negative actual amounts.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89" name="Google Shape;189;p20"/>
          <p:cNvPicPr preferRelativeResize="0"/>
          <p:nvPr/>
        </p:nvPicPr>
        <p:blipFill rotWithShape="1">
          <a:blip r:embed="rId3">
            <a:alphaModFix/>
          </a:blip>
          <a:srcRect b="-533" l="0" r="0" t="0"/>
          <a:stretch/>
        </p:blipFill>
        <p:spPr>
          <a:xfrm>
            <a:off x="4993850" y="378750"/>
            <a:ext cx="2959500" cy="43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1"/>
          <p:cNvGrpSpPr/>
          <p:nvPr/>
        </p:nvGrpSpPr>
        <p:grpSpPr>
          <a:xfrm>
            <a:off x="476250" y="476250"/>
            <a:ext cx="8191500" cy="571500"/>
            <a:chOff x="0" y="0"/>
            <a:chExt cx="8191500" cy="571500"/>
          </a:xfrm>
        </p:grpSpPr>
        <p:sp>
          <p:nvSpPr>
            <p:cNvPr id="195" name="Google Shape;195;p21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Scenario Analytics</a:t>
              </a:r>
              <a:endParaRPr b="1" sz="2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7" name="Google Shape;197;p21"/>
          <p:cNvGrpSpPr/>
          <p:nvPr/>
        </p:nvGrpSpPr>
        <p:grpSpPr>
          <a:xfrm>
            <a:off x="476250" y="1238250"/>
            <a:ext cx="3905400" cy="1000200"/>
            <a:chOff x="0" y="0"/>
            <a:chExt cx="3905400" cy="1000200"/>
          </a:xfrm>
        </p:grpSpPr>
        <p:sp>
          <p:nvSpPr>
            <p:cNvPr id="198" name="Google Shape;198;p21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Scenario Range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Actual performance remained between the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best- and worst-case scenarios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throughout 2025, with no scenario-range breaches.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21"/>
          <p:cNvGrpSpPr/>
          <p:nvPr/>
        </p:nvGrpSpPr>
        <p:grpSpPr>
          <a:xfrm>
            <a:off x="476250" y="2381250"/>
            <a:ext cx="3905400" cy="1000200"/>
            <a:chOff x="0" y="0"/>
            <a:chExt cx="3905400" cy="1000200"/>
          </a:xfrm>
        </p:grpSpPr>
        <p:sp>
          <p:nvSpPr>
            <p:cNvPr id="202" name="Google Shape;202;p21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September Peak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September recorded the most favorable actual result at −2.16M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compared with a best case of −1.76M and a worst case of −2.55M.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476250" y="3524250"/>
            <a:ext cx="3905400" cy="1000200"/>
            <a:chOff x="0" y="0"/>
            <a:chExt cx="3905400" cy="1000200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39054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152400" y="114300"/>
              <a:ext cx="36006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December Decline</a:t>
              </a:r>
              <a:endParaRPr b="1" sz="1018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December recorded the weakest actual result at −2.77M</a:t>
              </a:r>
              <a:r>
                <a:rPr b="0" lang="en" sz="97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deteriorating by </a:t>
              </a:r>
              <a:r>
                <a:rPr b="1" lang="en" sz="971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0.61M (28.2%)</a:t>
              </a:r>
              <a:r>
                <a:rPr b="0" lang="en" sz="97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from September and approaching the worst-case value of −3.21M.</a:t>
              </a:r>
              <a:endParaRPr b="0" sz="97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6675" y="1343025"/>
            <a:ext cx="4201800" cy="30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/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5" name="Google Shape;215;p22"/>
          <p:cNvGrpSpPr/>
          <p:nvPr/>
        </p:nvGrpSpPr>
        <p:grpSpPr>
          <a:xfrm>
            <a:off x="476250" y="1238250"/>
            <a:ext cx="2571900" cy="3238500"/>
            <a:chOff x="0" y="0"/>
            <a:chExt cx="2571900" cy="3238500"/>
          </a:xfrm>
        </p:grpSpPr>
        <p:sp>
          <p:nvSpPr>
            <p:cNvPr id="216" name="Google Shape;216;p22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0" y="0"/>
              <a:ext cx="25719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 txBox="1"/>
            <p:nvPr/>
          </p:nvSpPr>
          <p:spPr>
            <a:xfrm>
              <a:off x="152400" y="190500"/>
              <a:ext cx="22671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2025 Performance</a:t>
              </a:r>
              <a:endParaRPr b="1" sz="12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NRG remained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profitable in 2025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but performance was volatile and revenue declined by </a:t>
              </a:r>
              <a:r>
                <a:rPr b="1" lang="en" sz="10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19.7%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from January to December [cite: 10].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9" name="Google Shape;219;p22"/>
          <p:cNvGrpSpPr/>
          <p:nvPr/>
        </p:nvGrpSpPr>
        <p:grpSpPr>
          <a:xfrm>
            <a:off x="3286125" y="1238250"/>
            <a:ext cx="2571900" cy="3238500"/>
            <a:chOff x="0" y="0"/>
            <a:chExt cx="2571900" cy="3238500"/>
          </a:xfrm>
        </p:grpSpPr>
        <p:sp>
          <p:nvSpPr>
            <p:cNvPr id="220" name="Google Shape;220;p22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0" y="0"/>
              <a:ext cx="25719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152400" y="190500"/>
              <a:ext cx="22671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Channel &amp; Locations</a:t>
              </a:r>
              <a:endParaRPr b="1" sz="12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Physical stores contributed approximately </a:t>
              </a:r>
              <a:r>
                <a:rPr b="1" lang="en" sz="10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73% of total profit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while E-commerce and locations like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Stockholm, Trondheim, and Oslo City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show opportunities for improvement [cite: 10].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" name="Google Shape;223;p22"/>
          <p:cNvGrpSpPr/>
          <p:nvPr/>
        </p:nvGrpSpPr>
        <p:grpSpPr>
          <a:xfrm>
            <a:off x="6096000" y="1238250"/>
            <a:ext cx="2571900" cy="3238500"/>
            <a:chOff x="0" y="0"/>
            <a:chExt cx="2571900" cy="3238500"/>
          </a:xfrm>
        </p:grpSpPr>
        <p:sp>
          <p:nvSpPr>
            <p:cNvPr id="224" name="Google Shape;224;p22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0" y="0"/>
              <a:ext cx="25719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152400" y="190500"/>
              <a:ext cx="22671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Strategic Imperatives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Stronger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cost control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revenue recovery, reporting automation, and validation of financial KPI calculations are essential for faster decision-making [cite: 10].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>
            <p:ph type="title"/>
          </p:nvPr>
        </p:nvSpPr>
        <p:spPr>
          <a:xfrm>
            <a:off x="476250" y="4762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Recommendations &amp; Actions</a:t>
            </a:r>
            <a:endParaRPr b="1" i="0" sz="2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2" name="Google Shape;232;p23"/>
          <p:cNvGrpSpPr/>
          <p:nvPr/>
        </p:nvGrpSpPr>
        <p:grpSpPr>
          <a:xfrm>
            <a:off x="476250" y="1238250"/>
            <a:ext cx="3905400" cy="3429000"/>
            <a:chOff x="0" y="0"/>
            <a:chExt cx="3905400" cy="3429000"/>
          </a:xfrm>
        </p:grpSpPr>
        <p:sp>
          <p:nvSpPr>
            <p:cNvPr id="233" name="Google Shape;233;p23"/>
            <p:cNvSpPr/>
            <p:nvPr/>
          </p:nvSpPr>
          <p:spPr>
            <a:xfrm>
              <a:off x="0" y="0"/>
              <a:ext cx="39054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3"/>
            <p:cNvSpPr txBox="1"/>
            <p:nvPr/>
          </p:nvSpPr>
          <p:spPr>
            <a:xfrm>
              <a:off x="190500" y="190500"/>
              <a:ext cx="3524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Recommendations</a:t>
              </a:r>
              <a:endParaRPr b="1" sz="14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Validate financial metrics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to ensure consistent and accurate reporting.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Recover revenue growth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by replicating strategies from high-performing months.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Control operating expenses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particularly logistics and marketing costs.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Improve E-commerce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underperforming store profitability.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 financial reporting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for faster, data-driven decisions.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6" name="Google Shape;236;p23"/>
          <p:cNvGrpSpPr/>
          <p:nvPr/>
        </p:nvGrpSpPr>
        <p:grpSpPr>
          <a:xfrm>
            <a:off x="4762500" y="1238250"/>
            <a:ext cx="3905400" cy="3429000"/>
            <a:chOff x="0" y="0"/>
            <a:chExt cx="3905400" cy="3429000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39054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190500" y="190500"/>
              <a:ext cx="3524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Actions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Standardize KPI definitions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validate financial calculations.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Analyze revenue performance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by department, store, and product.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Monitor Budget vs. Actual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variance monthly.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Review E-commerce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underperforming store costs.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 P&amp;L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performance dashboards.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