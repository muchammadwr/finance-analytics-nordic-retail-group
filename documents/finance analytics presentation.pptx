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Josefin Sans" pitchFamily="2" charset="0"/>
      <p:regular r:id="rId12"/>
    </p:embeddedFont>
    <p:embeddedFont>
      <p:font typeface="Josefin Sans Light" pitchFamily="2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  <p:embeddedFont>
      <p:font typeface="Open Sans Light" panose="020B0306030504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FFDA1-E554-4C80-929C-1CF343161DB5}" v="12" dt="2026-04-12T13:05:53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chammad Wildan Alkautsar" userId="360672ed2ee56274" providerId="LiveId" clId="{F5771622-C242-4EFB-9359-41E4DFBD7538}"/>
    <pc:docChg chg="undo custSel addSld delSld modSld">
      <pc:chgData name="Muchammad Wildan Alkautsar" userId="360672ed2ee56274" providerId="LiveId" clId="{F5771622-C242-4EFB-9359-41E4DFBD7538}" dt="2026-04-19T06:33:36.642" v="248" actId="2890"/>
      <pc:docMkLst>
        <pc:docMk/>
      </pc:docMkLst>
      <pc:sldChg chg="modSp mod">
        <pc:chgData name="Muchammad Wildan Alkautsar" userId="360672ed2ee56274" providerId="LiveId" clId="{F5771622-C242-4EFB-9359-41E4DFBD7538}" dt="2026-04-08T01:21:32.075" v="133" actId="2711"/>
        <pc:sldMkLst>
          <pc:docMk/>
          <pc:sldMk cId="0" sldId="256"/>
        </pc:sldMkLst>
        <pc:spChg chg="mod">
          <ac:chgData name="Muchammad Wildan Alkautsar" userId="360672ed2ee56274" providerId="LiveId" clId="{F5771622-C242-4EFB-9359-41E4DFBD7538}" dt="2026-04-08T01:21:23.044" v="128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08T01:21:29.410" v="132" actId="271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08T01:21:32.075" v="133" actId="2711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Muchammad Wildan Alkautsar" userId="360672ed2ee56274" providerId="LiveId" clId="{F5771622-C242-4EFB-9359-41E4DFBD7538}" dt="2026-04-12T13:04:15.690" v="237" actId="208"/>
        <pc:sldMkLst>
          <pc:docMk/>
          <pc:sldMk cId="0" sldId="257"/>
        </pc:sldMkLst>
        <pc:spChg chg="mod">
          <ac:chgData name="Muchammad Wildan Alkautsar" userId="360672ed2ee56274" providerId="LiveId" clId="{F5771622-C242-4EFB-9359-41E4DFBD7538}" dt="2026-04-08T01:21:20.059" v="127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12T13:00:21.627" v="177" actId="20577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Muchammad Wildan Alkautsar" userId="360672ed2ee56274" providerId="LiveId" clId="{F5771622-C242-4EFB-9359-41E4DFBD7538}" dt="2026-04-12T13:03:31.789" v="232" actId="1582"/>
          <ac:spMkLst>
            <pc:docMk/>
            <pc:sldMk cId="0" sldId="257"/>
            <ac:spMk id="29" creationId="{BC15E850-FF4F-ECA6-8FB5-AB80619F07A7}"/>
          </ac:spMkLst>
        </pc:spChg>
        <pc:spChg chg="add mod">
          <ac:chgData name="Muchammad Wildan Alkautsar" userId="360672ed2ee56274" providerId="LiveId" clId="{F5771622-C242-4EFB-9359-41E4DFBD7538}" dt="2026-04-12T13:04:15.690" v="237" actId="208"/>
          <ac:spMkLst>
            <pc:docMk/>
            <pc:sldMk cId="0" sldId="257"/>
            <ac:spMk id="31" creationId="{7EADF9FF-2C20-8F6F-CA17-F23BF657645F}"/>
          </ac:spMkLst>
        </pc:spChg>
        <pc:picChg chg="add mod">
          <ac:chgData name="Muchammad Wildan Alkautsar" userId="360672ed2ee56274" providerId="LiveId" clId="{F5771622-C242-4EFB-9359-41E4DFBD7538}" dt="2026-04-12T13:03:39.734" v="235" actId="1076"/>
          <ac:picMkLst>
            <pc:docMk/>
            <pc:sldMk cId="0" sldId="257"/>
            <ac:picMk id="14" creationId="{0DBCBB5A-7CF2-CA76-187E-22AF6965ACE1}"/>
          </ac:picMkLst>
        </pc:picChg>
      </pc:sldChg>
      <pc:sldChg chg="addSp delSp modSp mod">
        <pc:chgData name="Muchammad Wildan Alkautsar" userId="360672ed2ee56274" providerId="LiveId" clId="{F5771622-C242-4EFB-9359-41E4DFBD7538}" dt="2026-04-12T13:05:58.629" v="245" actId="1076"/>
        <pc:sldMkLst>
          <pc:docMk/>
          <pc:sldMk cId="0" sldId="258"/>
        </pc:sldMkLst>
        <pc:spChg chg="mod">
          <ac:chgData name="Muchammad Wildan Alkautsar" userId="360672ed2ee56274" providerId="LiveId" clId="{F5771622-C242-4EFB-9359-41E4DFBD7538}" dt="2026-04-08T01:27:40.129" v="165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08T01:27:46.026" v="166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08T01:27:36.197" v="164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Muchammad Wildan Alkautsar" userId="360672ed2ee56274" providerId="LiveId" clId="{F5771622-C242-4EFB-9359-41E4DFBD7538}" dt="2026-04-12T13:00:49.095" v="183" actId="113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Muchammad Wildan Alkautsar" userId="360672ed2ee56274" providerId="LiveId" clId="{F5771622-C242-4EFB-9359-41E4DFBD7538}" dt="2026-04-12T13:05:41.853" v="243" actId="1076"/>
          <ac:spMkLst>
            <pc:docMk/>
            <pc:sldMk cId="0" sldId="258"/>
            <ac:spMk id="13" creationId="{B6AA9918-384B-3B6E-10A6-BE1A9B5A91F7}"/>
          </ac:spMkLst>
        </pc:spChg>
        <pc:spChg chg="add mod">
          <ac:chgData name="Muchammad Wildan Alkautsar" userId="360672ed2ee56274" providerId="LiveId" clId="{F5771622-C242-4EFB-9359-41E4DFBD7538}" dt="2026-04-12T13:05:58.629" v="245" actId="1076"/>
          <ac:spMkLst>
            <pc:docMk/>
            <pc:sldMk cId="0" sldId="258"/>
            <ac:spMk id="14" creationId="{65610A73-AC9C-FE19-D2E0-45D43D204585}"/>
          </ac:spMkLst>
        </pc:spChg>
      </pc:sldChg>
      <pc:sldChg chg="addSp delSp modSp mod">
        <pc:chgData name="Muchammad Wildan Alkautsar" userId="360672ed2ee56274" providerId="LiveId" clId="{F5771622-C242-4EFB-9359-41E4DFBD7538}" dt="2026-04-07T09:44:52.014" v="15" actId="14100"/>
        <pc:sldMkLst>
          <pc:docMk/>
          <pc:sldMk cId="0" sldId="262"/>
        </pc:sldMkLst>
        <pc:picChg chg="add mod">
          <ac:chgData name="Muchammad Wildan Alkautsar" userId="360672ed2ee56274" providerId="LiveId" clId="{F5771622-C242-4EFB-9359-41E4DFBD7538}" dt="2026-04-07T09:44:52.014" v="15" actId="14100"/>
          <ac:picMkLst>
            <pc:docMk/>
            <pc:sldMk cId="0" sldId="262"/>
            <ac:picMk id="18" creationId="{20555352-F20A-CC1A-B75B-571403C05E31}"/>
          </ac:picMkLst>
        </pc:picChg>
      </pc:sldChg>
      <pc:sldChg chg="addSp delSp modSp add mod modClrScheme chgLayout">
        <pc:chgData name="Muchammad Wildan Alkautsar" userId="360672ed2ee56274" providerId="LiveId" clId="{F5771622-C242-4EFB-9359-41E4DFBD7538}" dt="2026-04-08T01:26:42.291" v="161" actId="113"/>
        <pc:sldMkLst>
          <pc:docMk/>
          <pc:sldMk cId="1134590727" sldId="264"/>
        </pc:sldMkLst>
        <pc:spChg chg="add mod ord">
          <ac:chgData name="Muchammad Wildan Alkautsar" userId="360672ed2ee56274" providerId="LiveId" clId="{F5771622-C242-4EFB-9359-41E4DFBD7538}" dt="2026-04-08T01:19:11.897" v="63" actId="207"/>
          <ac:spMkLst>
            <pc:docMk/>
            <pc:sldMk cId="1134590727" sldId="264"/>
            <ac:spMk id="8" creationId="{0222E634-3E1E-AF68-9E45-DED43B0C9EB9}"/>
          </ac:spMkLst>
        </pc:spChg>
        <pc:spChg chg="add mod ord">
          <ac:chgData name="Muchammad Wildan Alkautsar" userId="360672ed2ee56274" providerId="LiveId" clId="{F5771622-C242-4EFB-9359-41E4DFBD7538}" dt="2026-04-08T01:26:42.291" v="161" actId="113"/>
          <ac:spMkLst>
            <pc:docMk/>
            <pc:sldMk cId="1134590727" sldId="264"/>
            <ac:spMk id="9" creationId="{96AC73F0-2340-5A43-60A6-3AE717A463B6}"/>
          </ac:spMkLst>
        </pc:spChg>
      </pc:sldChg>
      <pc:sldChg chg="add">
        <pc:chgData name="Muchammad Wildan Alkautsar" userId="360672ed2ee56274" providerId="LiveId" clId="{F5771622-C242-4EFB-9359-41E4DFBD7538}" dt="2026-04-19T06:33:36.642" v="248" actId="2890"/>
        <pc:sldMkLst>
          <pc:docMk/>
          <pc:sldMk cId="2401670062" sldId="265"/>
        </pc:sldMkLst>
      </pc:sldChg>
      <pc:sldChg chg="new del">
        <pc:chgData name="Muchammad Wildan Alkautsar" userId="360672ed2ee56274" providerId="LiveId" clId="{F5771622-C242-4EFB-9359-41E4DFBD7538}" dt="2026-04-19T06:33:35.384" v="247" actId="680"/>
        <pc:sldMkLst>
          <pc:docMk/>
          <pc:sldMk cId="2938543918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0539" y="513682"/>
            <a:ext cx="16405949" cy="9259635"/>
            <a:chOff x="0" y="0"/>
            <a:chExt cx="2541711" cy="143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1711" cy="1434560"/>
            </a:xfrm>
            <a:custGeom>
              <a:avLst/>
              <a:gdLst/>
              <a:ahLst/>
              <a:cxnLst/>
              <a:rect l="l" t="t" r="r" b="b"/>
              <a:pathLst>
                <a:path w="2541711" h="1434560">
                  <a:moveTo>
                    <a:pt x="0" y="0"/>
                  </a:moveTo>
                  <a:lnTo>
                    <a:pt x="2541711" y="0"/>
                  </a:lnTo>
                  <a:lnTo>
                    <a:pt x="2541711" y="1434560"/>
                  </a:lnTo>
                  <a:lnTo>
                    <a:pt x="0" y="143456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t="-82882" b="-82882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CFD3D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CFD3D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861880" y="3294220"/>
            <a:ext cx="11743267" cy="3698560"/>
            <a:chOff x="0" y="0"/>
            <a:chExt cx="3092877" cy="9741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92877" cy="974106"/>
            </a:xfrm>
            <a:custGeom>
              <a:avLst/>
              <a:gdLst/>
              <a:ahLst/>
              <a:cxnLst/>
              <a:rect l="l" t="t" r="r" b="b"/>
              <a:pathLst>
                <a:path w="3092877" h="974106">
                  <a:moveTo>
                    <a:pt x="0" y="0"/>
                  </a:moveTo>
                  <a:lnTo>
                    <a:pt x="3092877" y="0"/>
                  </a:lnTo>
                  <a:lnTo>
                    <a:pt x="3092877" y="974106"/>
                  </a:lnTo>
                  <a:lnTo>
                    <a:pt x="0" y="974106"/>
                  </a:lnTo>
                  <a:close/>
                </a:path>
              </a:pathLst>
            </a:custGeom>
            <a:ln w="19050" cap="sq">
              <a:solidFill>
                <a:srgbClr val="E1E1E1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092877" cy="964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76806" y="4241772"/>
            <a:ext cx="12528427" cy="3510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72"/>
              </a:lnSpc>
            </a:pPr>
            <a:r>
              <a:rPr lang="en-US" sz="12429" spc="3579" dirty="0">
                <a:solidFill>
                  <a:srgbClr val="E1E1E1"/>
                </a:solidFill>
                <a:latin typeface="+mj-lt"/>
                <a:ea typeface="Josefin Sans"/>
                <a:cs typeface="Josefin Sans"/>
                <a:sym typeface="Josefin Sans"/>
              </a:rPr>
              <a:t>FINANC’S REPORT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 dirty="0">
                <a:solidFill>
                  <a:srgbClr val="E1E1E1"/>
                </a:solidFill>
                <a:latin typeface="+mj-l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 dirty="0">
                <a:solidFill>
                  <a:srgbClr val="E1E1E1"/>
                </a:solidFill>
                <a:latin typeface="+mj-l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66139"/>
            <a:ext cx="6492149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3200" dirty="0">
                <a:solidFill>
                  <a:srgbClr val="E1E1E1"/>
                </a:solidFill>
                <a:latin typeface="+mj-lt"/>
                <a:ea typeface="Josefin Sans"/>
                <a:cs typeface="Josefin Sans"/>
                <a:sym typeface="Josefin Sans"/>
              </a:rPr>
              <a:t>PROFITABILTY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38933"/>
            <a:ext cx="5245353" cy="136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Net profit exhibits a fluctuating but generally stable trend, peaking significantly in </a:t>
            </a:r>
            <a:r>
              <a:rPr lang="en-US" sz="1904" b="1" dirty="0">
                <a:solidFill>
                  <a:srgbClr val="00B050"/>
                </a:solidFill>
                <a:ea typeface="Open Sans Bold"/>
                <a:cs typeface="Open Sans Bold"/>
                <a:sym typeface="Open Sans Bold"/>
              </a:rPr>
              <a:t>March </a:t>
            </a:r>
            <a:r>
              <a:rPr lang="en-US" sz="2400" b="1" dirty="0">
                <a:solidFill>
                  <a:srgbClr val="00B050"/>
                </a:solidFill>
                <a:ea typeface="Open Sans Bold"/>
                <a:cs typeface="Open Sans Bold"/>
                <a:sym typeface="Open Sans Bold"/>
              </a:rPr>
              <a:t>($4.5M)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while maintaining a consistent baseline above </a:t>
            </a:r>
            <a:r>
              <a:rPr lang="en-US" sz="2400" b="1" dirty="0">
                <a:solidFill>
                  <a:srgbClr val="FF0000"/>
                </a:solidFill>
                <a:ea typeface="Open Sans Bold"/>
                <a:cs typeface="Open Sans Bold"/>
                <a:sym typeface="Open Sans Bold"/>
              </a:rPr>
              <a:t>$3.7M</a:t>
            </a:r>
            <a:r>
              <a:rPr lang="en-US" sz="2400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throughout the fiscal year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BCBB5A-7CF2-CA76-187E-22AF6965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611271"/>
            <a:ext cx="10325100" cy="4038936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BC15E850-FF4F-ECA6-8FB5-AB80619F07A7}"/>
              </a:ext>
            </a:extLst>
          </p:cNvPr>
          <p:cNvSpPr/>
          <p:nvPr/>
        </p:nvSpPr>
        <p:spPr>
          <a:xfrm>
            <a:off x="9138634" y="2991246"/>
            <a:ext cx="1524000" cy="70794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ADF9FF-2C20-8F6F-CA17-F23BF657645F}"/>
              </a:ext>
            </a:extLst>
          </p:cNvPr>
          <p:cNvSpPr/>
          <p:nvPr/>
        </p:nvSpPr>
        <p:spPr>
          <a:xfrm>
            <a:off x="8305800" y="4112455"/>
            <a:ext cx="1524000" cy="7079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96A0A-BD28-EC0A-5111-2AA74F13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56824C3-AD04-39E8-5637-E7FD7918C52D}"/>
              </a:ext>
            </a:extLst>
          </p:cNvPr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1E66F7C-4761-564B-5CC8-3B17DB2AA542}"/>
              </a:ext>
            </a:extLst>
          </p:cNvPr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BFE4C1-FEE3-76F7-111D-0DB498CAF251}"/>
              </a:ext>
            </a:extLst>
          </p:cNvPr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8D4585D-954A-D142-129A-C76F31BB5AA4}"/>
              </a:ext>
            </a:extLst>
          </p:cNvPr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2AE392-A8E3-D35F-4C50-9C19AEBD1F8A}"/>
              </a:ext>
            </a:extLst>
          </p:cNvPr>
          <p:cNvSpPr txBox="1"/>
          <p:nvPr/>
        </p:nvSpPr>
        <p:spPr>
          <a:xfrm>
            <a:off x="1028700" y="2766139"/>
            <a:ext cx="6492149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3200" dirty="0">
                <a:solidFill>
                  <a:srgbClr val="E1E1E1"/>
                </a:solidFill>
                <a:latin typeface="+mj-lt"/>
                <a:ea typeface="Josefin Sans"/>
                <a:cs typeface="Josefin Sans"/>
                <a:sym typeface="Josefin Sans"/>
              </a:rPr>
              <a:t>PROFITABILTY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9AED8A0-412F-00AA-DFAE-EF815F36959C}"/>
              </a:ext>
            </a:extLst>
          </p:cNvPr>
          <p:cNvSpPr txBox="1"/>
          <p:nvPr/>
        </p:nvSpPr>
        <p:spPr>
          <a:xfrm>
            <a:off x="1028700" y="4138933"/>
            <a:ext cx="5245353" cy="1362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Net profit exhibits a fluctuating but generally stable trend, peaking significantly in </a:t>
            </a:r>
            <a:r>
              <a:rPr lang="en-US" sz="1904" b="1" dirty="0">
                <a:solidFill>
                  <a:srgbClr val="00B050"/>
                </a:solidFill>
                <a:ea typeface="Open Sans Bold"/>
                <a:cs typeface="Open Sans Bold"/>
                <a:sym typeface="Open Sans Bold"/>
              </a:rPr>
              <a:t>March </a:t>
            </a:r>
            <a:r>
              <a:rPr lang="en-US" sz="2400" b="1" dirty="0">
                <a:solidFill>
                  <a:srgbClr val="00B050"/>
                </a:solidFill>
                <a:ea typeface="Open Sans Bold"/>
                <a:cs typeface="Open Sans Bold"/>
                <a:sym typeface="Open Sans Bold"/>
              </a:rPr>
              <a:t>($4.5M)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while maintaining a consistent baseline above </a:t>
            </a:r>
            <a:r>
              <a:rPr lang="en-US" sz="2400" b="1" dirty="0">
                <a:solidFill>
                  <a:srgbClr val="FF0000"/>
                </a:solidFill>
                <a:ea typeface="Open Sans Bold"/>
                <a:cs typeface="Open Sans Bold"/>
                <a:sym typeface="Open Sans Bold"/>
              </a:rPr>
              <a:t>$3.7M</a:t>
            </a:r>
            <a:r>
              <a:rPr lang="en-US" sz="2400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throughout the fiscal year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50E6EB-2D7B-FC80-ADF3-238E7CC4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611271"/>
            <a:ext cx="10325100" cy="4038936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EF802D73-F31D-8918-73A6-6747F66FAEB7}"/>
              </a:ext>
            </a:extLst>
          </p:cNvPr>
          <p:cNvSpPr/>
          <p:nvPr/>
        </p:nvSpPr>
        <p:spPr>
          <a:xfrm>
            <a:off x="9138634" y="2991246"/>
            <a:ext cx="1524000" cy="70794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D72C3EA-AE00-43A2-4EBF-DFB61ABF7AC5}"/>
              </a:ext>
            </a:extLst>
          </p:cNvPr>
          <p:cNvSpPr/>
          <p:nvPr/>
        </p:nvSpPr>
        <p:spPr>
          <a:xfrm>
            <a:off x="8305800" y="4112455"/>
            <a:ext cx="1524000" cy="7079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7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482526" y="3154900"/>
            <a:ext cx="10804726" cy="3977200"/>
          </a:xfrm>
          <a:custGeom>
            <a:avLst/>
            <a:gdLst/>
            <a:ahLst/>
            <a:cxnLst/>
            <a:rect l="l" t="t" r="r" b="b"/>
            <a:pathLst>
              <a:path w="10804726" h="3977200">
                <a:moveTo>
                  <a:pt x="0" y="0"/>
                </a:moveTo>
                <a:lnTo>
                  <a:pt x="10804727" y="0"/>
                </a:lnTo>
                <a:lnTo>
                  <a:pt x="10804727" y="3977200"/>
                </a:lnTo>
                <a:lnTo>
                  <a:pt x="0" y="3977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 dirty="0">
                <a:solidFill>
                  <a:srgbClr val="E1E1E1"/>
                </a:solidFill>
                <a:latin typeface="+mj-l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 dirty="0">
                <a:solidFill>
                  <a:srgbClr val="E1E1E1"/>
                </a:solidFill>
                <a:latin typeface="+mj-l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66139"/>
            <a:ext cx="6492149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3200" dirty="0">
                <a:solidFill>
                  <a:srgbClr val="E1E1E1"/>
                </a:solidFill>
                <a:latin typeface="+mj-lt"/>
                <a:ea typeface="Josefin Sans"/>
                <a:cs typeface="Josefin Sans"/>
                <a:sym typeface="Josefin Sans"/>
              </a:rPr>
              <a:t>GROSS MARGIN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38933"/>
            <a:ext cx="524535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Gross Margin exhibits high monthly volatility throughout the year, reaching a peak of </a:t>
            </a:r>
            <a:r>
              <a:rPr lang="en-US" sz="2400" b="1" dirty="0">
                <a:solidFill>
                  <a:srgbClr val="00B050"/>
                </a:solidFill>
                <a:ea typeface="Open Sans Light"/>
                <a:cs typeface="Open Sans Light"/>
                <a:sym typeface="Open Sans Light"/>
              </a:rPr>
              <a:t>189.17%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in </a:t>
            </a:r>
            <a:r>
              <a:rPr lang="en-US" sz="2400" dirty="0">
                <a:solidFill>
                  <a:srgbClr val="00B050"/>
                </a:solidFill>
                <a:ea typeface="Open Sans Light"/>
                <a:cs typeface="Open Sans Light"/>
                <a:sym typeface="Open Sans Light"/>
              </a:rPr>
              <a:t>October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following its lowest point of </a:t>
            </a:r>
            <a:r>
              <a:rPr lang="en-US" sz="2400" b="1" dirty="0">
                <a:solidFill>
                  <a:srgbClr val="FF0000"/>
                </a:solidFill>
                <a:ea typeface="Open Sans Light"/>
                <a:cs typeface="Open Sans Light"/>
                <a:sym typeface="Open Sans Light"/>
              </a:rPr>
              <a:t>157.28%</a:t>
            </a:r>
            <a:r>
              <a:rPr lang="en-US" sz="1904" dirty="0">
                <a:solidFill>
                  <a:srgbClr val="FFFFFF"/>
                </a:solidFill>
                <a:ea typeface="Open Sans Light"/>
                <a:cs typeface="Open Sans Light"/>
                <a:sym typeface="Open Sans Light"/>
              </a:rPr>
              <a:t> in </a:t>
            </a:r>
            <a:r>
              <a:rPr lang="en-US" sz="2400" b="1" dirty="0">
                <a:solidFill>
                  <a:srgbClr val="FF0000"/>
                </a:solidFill>
                <a:ea typeface="Open Sans Light"/>
                <a:cs typeface="Open Sans Light"/>
                <a:sym typeface="Open Sans Light"/>
              </a:rPr>
              <a:t>July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AA9918-384B-3B6E-10A6-BE1A9B5A91F7}"/>
              </a:ext>
            </a:extLst>
          </p:cNvPr>
          <p:cNvSpPr/>
          <p:nvPr/>
        </p:nvSpPr>
        <p:spPr>
          <a:xfrm>
            <a:off x="14325600" y="3784960"/>
            <a:ext cx="1524000" cy="707946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610A73-AC9C-FE19-D2E0-45D43D204585}"/>
              </a:ext>
            </a:extLst>
          </p:cNvPr>
          <p:cNvSpPr/>
          <p:nvPr/>
        </p:nvSpPr>
        <p:spPr>
          <a:xfrm>
            <a:off x="12039600" y="4991100"/>
            <a:ext cx="1524000" cy="7079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1777705" y="2251060"/>
            <a:ext cx="5481595" cy="5784880"/>
          </a:xfrm>
          <a:custGeom>
            <a:avLst/>
            <a:gdLst/>
            <a:ahLst/>
            <a:cxnLst/>
            <a:rect l="l" t="t" r="r" b="b"/>
            <a:pathLst>
              <a:path w="5481595" h="5784880">
                <a:moveTo>
                  <a:pt x="0" y="0"/>
                </a:moveTo>
                <a:lnTo>
                  <a:pt x="5481595" y="0"/>
                </a:lnTo>
                <a:lnTo>
                  <a:pt x="5481595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66139"/>
            <a:ext cx="6492149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GROSS MARGIN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38933"/>
            <a:ext cx="5245353" cy="332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Physical stores act as the primary operational driver for the business, generating </a:t>
            </a:r>
            <a:r>
              <a:rPr lang="en-US" sz="19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$30M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profit and nearly tripling the output of the E-commerce channel</a:t>
            </a:r>
          </a:p>
          <a:p>
            <a:pPr algn="l">
              <a:lnSpc>
                <a:spcPts val="2665"/>
              </a:lnSpc>
            </a:pPr>
            <a:endParaRPr lang="en-US" sz="190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bottom-line performance is led by physical retail locations, which contribute </a:t>
            </a:r>
            <a:r>
              <a:rPr lang="en-US" sz="19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$36M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Net Profit compared to the </a:t>
            </a:r>
            <a:r>
              <a:rPr lang="en-US" sz="19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$14M 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derived from digital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5958041" y="2737564"/>
            <a:ext cx="11301259" cy="5297465"/>
          </a:xfrm>
          <a:custGeom>
            <a:avLst/>
            <a:gdLst/>
            <a:ahLst/>
            <a:cxnLst/>
            <a:rect l="l" t="t" r="r" b="b"/>
            <a:pathLst>
              <a:path w="11301259" h="5297465">
                <a:moveTo>
                  <a:pt x="0" y="0"/>
                </a:moveTo>
                <a:lnTo>
                  <a:pt x="11301259" y="0"/>
                </a:lnTo>
                <a:lnTo>
                  <a:pt x="11301259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66139"/>
            <a:ext cx="4929341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OPERATION</a:t>
            </a:r>
          </a:p>
          <a:p>
            <a:pPr marL="0" lvl="0" indent="0" algn="l">
              <a:lnSpc>
                <a:spcPts val="3520"/>
              </a:lnSpc>
            </a:pPr>
            <a:endParaRPr lang="en-US" sz="3200">
              <a:solidFill>
                <a:srgbClr val="E1E1E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138933"/>
            <a:ext cx="4691216" cy="332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February shows a spike in expenses (~-1.64M) without a proportional revenue increase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Mid-year (June–July) revenue improves, but expenses remain elevated (~-2.0M)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 of year shows expense increase again (~-1.92M) with only modest revenue growth</a:t>
            </a:r>
          </a:p>
          <a:p>
            <a:pPr algn="l">
              <a:lnSpc>
                <a:spcPts val="2665"/>
              </a:lnSpc>
            </a:pPr>
            <a:endParaRPr lang="en-US" sz="190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5958041" y="2918147"/>
            <a:ext cx="11301259" cy="4803035"/>
          </a:xfrm>
          <a:custGeom>
            <a:avLst/>
            <a:gdLst/>
            <a:ahLst/>
            <a:cxnLst/>
            <a:rect l="l" t="t" r="r" b="b"/>
            <a:pathLst>
              <a:path w="11301259" h="4803035">
                <a:moveTo>
                  <a:pt x="0" y="0"/>
                </a:moveTo>
                <a:lnTo>
                  <a:pt x="11301259" y="0"/>
                </a:lnTo>
                <a:lnTo>
                  <a:pt x="11301259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66139"/>
            <a:ext cx="4929341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OPERATION</a:t>
            </a:r>
          </a:p>
          <a:p>
            <a:pPr marL="0" lvl="0" indent="0" algn="l">
              <a:lnSpc>
                <a:spcPts val="3520"/>
              </a:lnSpc>
            </a:pPr>
            <a:endParaRPr lang="en-US" sz="3200">
              <a:solidFill>
                <a:srgbClr val="E1E1E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138933"/>
            <a:ext cx="4691216" cy="198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NRG Stockholm is the top-performing location with </a:t>
            </a:r>
            <a:r>
              <a:rPr lang="en-US" sz="19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$1.63M</a:t>
            </a: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revenue, leading a highly consistent field where the majority of top-tier stores maintain a narrow performance range between $1.47M and </a:t>
            </a:r>
            <a:r>
              <a:rPr lang="en-US" sz="190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$1.51M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766139"/>
            <a:ext cx="4929341" cy="45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20"/>
              </a:lnSpc>
            </a:pPr>
            <a:r>
              <a:rPr lang="en-US" sz="3200">
                <a:solidFill>
                  <a:srgbClr val="E1E1E1"/>
                </a:solidFill>
                <a:latin typeface="Josefin Sans"/>
                <a:ea typeface="Josefin Sans"/>
                <a:cs typeface="Josefin Sans"/>
                <a:sym typeface="Josefin Sans"/>
              </a:rPr>
              <a:t>SCENARIO 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38933"/>
            <a:ext cx="4691216" cy="432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chart compares Actual, Best Case, and Worst Case scenarios across stores, illustrating potential variations in financial performance under different business conditions.</a:t>
            </a:r>
          </a:p>
          <a:p>
            <a:pPr algn="l">
              <a:lnSpc>
                <a:spcPts val="2665"/>
              </a:lnSpc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is designed to: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Evaluate business sensitivity to change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Identify risk exposure and upside potential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Support strategic decision-making under uncertainty</a:t>
            </a:r>
          </a:p>
          <a:p>
            <a:pPr algn="l">
              <a:lnSpc>
                <a:spcPts val="2665"/>
              </a:lnSpc>
            </a:pPr>
            <a:endParaRPr lang="en-US" sz="190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555352-F20A-CC1A-B75B-571403C05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646150"/>
            <a:ext cx="9054790" cy="5469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2092298" y="1028700"/>
            <a:ext cx="5167002" cy="7784560"/>
          </a:xfrm>
          <a:custGeom>
            <a:avLst/>
            <a:gdLst/>
            <a:ahLst/>
            <a:cxnLst/>
            <a:rect l="l" t="t" r="r" b="b"/>
            <a:pathLst>
              <a:path w="5167002" h="7784560">
                <a:moveTo>
                  <a:pt x="0" y="0"/>
                </a:moveTo>
                <a:lnTo>
                  <a:pt x="5167002" y="0"/>
                </a:lnTo>
                <a:lnTo>
                  <a:pt x="5167002" y="7784560"/>
                </a:lnTo>
                <a:lnTo>
                  <a:pt x="0" y="778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70718" y="2685365"/>
            <a:ext cx="4691216" cy="499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Systemic performance gap: All stores are ~17% below Best Case → indicates a company-wide structural issue, not isolated underperformance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Uneven store resilience: Best performer is NRG Online Norway (~ -$3.77M), while NRG Online Sweden &amp; NRG Trondheim face highest downside risk (~ -$5M+)</a:t>
            </a:r>
          </a:p>
          <a:p>
            <a:pPr marL="411074" lvl="1" indent="-205537" algn="l">
              <a:lnSpc>
                <a:spcPts val="2665"/>
              </a:lnSpc>
              <a:buFont typeface="Arial"/>
              <a:buChar char="•"/>
            </a:pPr>
            <a:r>
              <a:rPr lang="en-US" sz="19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Urgent cost optimization needed: A ~$5M gap to Best Case requires immediate company-wide improvements in logistics and marketing efficiency</a:t>
            </a:r>
          </a:p>
          <a:p>
            <a:pPr algn="l">
              <a:lnSpc>
                <a:spcPts val="2665"/>
              </a:lnSpc>
            </a:pPr>
            <a:endParaRPr lang="en-US" sz="190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9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BECD6-AFE9-3503-71DE-A6C8D070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5BBD870-0FDE-413D-A53C-EF5499150FE1}"/>
              </a:ext>
            </a:extLst>
          </p:cNvPr>
          <p:cNvSpPr/>
          <p:nvPr/>
        </p:nvSpPr>
        <p:spPr>
          <a:xfrm flipV="1">
            <a:off x="17580241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39CFFC3-1356-07D5-295C-AEC67FF701F3}"/>
              </a:ext>
            </a:extLst>
          </p:cNvPr>
          <p:cNvSpPr/>
          <p:nvPr/>
        </p:nvSpPr>
        <p:spPr>
          <a:xfrm flipV="1">
            <a:off x="17692515" y="513682"/>
            <a:ext cx="0" cy="3544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F10E9B-EFFE-6FE7-F19B-44AEF96F8D45}"/>
              </a:ext>
            </a:extLst>
          </p:cNvPr>
          <p:cNvSpPr txBox="1"/>
          <p:nvPr/>
        </p:nvSpPr>
        <p:spPr>
          <a:xfrm rot="-5400000">
            <a:off x="15108912" y="5007610"/>
            <a:ext cx="5064457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NORDIC RETAIL GROUP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0EC7D7-7313-07BA-569D-6155794235E5}"/>
              </a:ext>
            </a:extLst>
          </p:cNvPr>
          <p:cNvSpPr txBox="1"/>
          <p:nvPr/>
        </p:nvSpPr>
        <p:spPr>
          <a:xfrm rot="-5400000">
            <a:off x="17035528" y="9031816"/>
            <a:ext cx="1211224" cy="27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9"/>
              </a:lnSpc>
            </a:pPr>
            <a:r>
              <a:rPr lang="en-US" sz="1899" spc="613">
                <a:solidFill>
                  <a:srgbClr val="E1E1E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2026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222E634-3E1E-AF68-9E45-DED43B0C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0287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Recommendation &amp; Action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AC73F0-2340-5A43-60A6-3AE717A4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0645" y="2552700"/>
            <a:ext cx="13046710" cy="592058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Cost Optimization (Priority)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Optimize operational efficiency during the volatile first half of the year to replicate the sustained high-profit stability observed in the third quarter.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Improve Operational Efficiency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Align expenses with revenue performance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Replicate strategies from top-performing stores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Strengthen Business Channels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Improve performance of underperforming channels (e-commerce)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Optimize investment allocation across channels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Scenario-Based Planning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Use scenario analysis for budgeting and forecasting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Focus on closing the ~$5M gap to Best Case</a:t>
            </a:r>
          </a:p>
        </p:txBody>
      </p:sp>
    </p:spTree>
    <p:extLst>
      <p:ext uri="{BB962C8B-B14F-4D97-AF65-F5344CB8AC3E}">
        <p14:creationId xmlns:p14="http://schemas.microsoft.com/office/powerpoint/2010/main" val="113459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474</Words>
  <Application>Microsoft Office PowerPoint</Application>
  <PresentationFormat>Custom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Josefin Sans Light</vt:lpstr>
      <vt:lpstr>Open Sans</vt:lpstr>
      <vt:lpstr>Open Sans Light</vt:lpstr>
      <vt:lpstr>Open Sans Bold</vt:lpstr>
      <vt:lpstr>Josefin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 &amp;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analytics</dc:title>
  <cp:lastModifiedBy>Muchammad Wildan Alkautsar</cp:lastModifiedBy>
  <cp:revision>1</cp:revision>
  <dcterms:created xsi:type="dcterms:W3CDTF">2006-08-16T00:00:00Z</dcterms:created>
  <dcterms:modified xsi:type="dcterms:W3CDTF">2026-04-19T06:33:44Z</dcterms:modified>
  <dc:identifier>DAHGBxKH5MM</dc:identifier>
</cp:coreProperties>
</file>